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notesMaster" Target="notesMasters/notesMaster1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這份投影片講兩件事</a:t>
            </a:r>
            <a:r>
              <a:rPr/>
              <a:t>：(1) Sheng et al. (2026) 的 Study 5 做了什麼；(2) 我們把 Study 5 搬到 LLM persona 上重做一遍，結果如何。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Study 5 想回答的問題是：</a:t>
            </a:r>
            <a:r>
              <a:rPr b="1"/>
              <a:t>追隨者的六種需求，能不能預測他們對領導者的看法？</a:t>
            </a:r>
            <a:r>
              <a:rPr/>
              <a:t>「看法」分兩個層次：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原型（prototype）</a:t>
            </a:r>
            <a:r>
              <a:rPr/>
              <a:t>：腦中「領導者應該長什麼樣子」，用 Implicit Leadership Theories（ILT）量表來測，屬於認知層次。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有效性（effectiveness）</a:t>
            </a:r>
            <a:r>
              <a:rPr/>
              <a:t>：看到一種領導方式時，覺得它「有多有效」，屬於知覺／評價層次。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Study 5 分三部分：</a:t>
            </a:r>
          </a:p>
          <a:p>
            <a:pPr lvl="0" indent="0" marL="0">
              <a:buNone/>
            </a:pPr>
          </a:p>
          <a:p>
            <a:pPr lvl="0"/>
            <a:r>
              <a:rPr/>
              <a:t>5a：需求 → 原型</a:t>
            </a:r>
          </a:p>
          <a:p>
            <a:pPr lvl="0" indent="0" marL="0">
              <a:buNone/>
            </a:pPr>
          </a:p>
          <a:p>
            <a:pPr lvl="0"/>
            <a:r>
              <a:rPr/>
              <a:t>5b：證明 FFNI 比舊的需求量表多解釋了東西</a:t>
            </a:r>
          </a:p>
          <a:p>
            <a:pPr lvl="0" indent="0" marL="0">
              <a:buNone/>
            </a:pPr>
          </a:p>
          <a:p>
            <a:pPr lvl="0"/>
            <a:r>
              <a:rPr/>
              <a:t>5c：需求 → 有效性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這份投影片只講 5a 和 5c，因為我們 replicate 的是這兩部分。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要先記住兩點：三個部分</a:t>
            </a:r>
            <a:r>
              <a:rPr b="1"/>
              <a:t>各用不同的樣本</a:t>
            </a:r>
            <a:r>
              <a:rPr/>
              <a:t>，而且</a:t>
            </a:r>
            <a:r>
              <a:rPr b="1"/>
              <a:t>都是相關研究</a:t>
            </a:r>
            <a:r>
              <a:rPr/>
              <a:t>，沒有操弄任何變項。後面講 gap 的時候，這兩點會很重要。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三個部分的總覽。重點是</a:t>
            </a:r>
            <a:r>
              <a:rPr b="1"/>
              <a:t>三個樣本都不一樣</a:t>
            </a:r>
            <a:r>
              <a:rPr/>
              <a:t>：5a 是美國人，5b 是英國人，5c 是中國人。這份投影片只講 5a 和 5c，後面會逐一說明。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FFNI 量的是「追隨者希望領導者提供什麼」</a:t>
            </a:r>
            <a:r>
              <a:rPr/>
              <a:t>，總共 22 題，分成六個需求。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對照「雙路徑模型」（dual model）：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Dominance 側</a:t>
            </a:r>
            <a:r>
              <a:rPr/>
              <a:t>：protection 和 status。直覺上，需要被保護、想提升地位的人，應該會偏好強勢、支配型的領導者。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Prestige 側</a:t>
            </a:r>
            <a:r>
              <a:rPr/>
              <a:t>：vision、expertise、fairness。需要方向、專業、公平的人，應該會偏好有真本事、讓人自願追隨的領導者。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Affiliation</a:t>
            </a:r>
            <a:r>
              <a:rPr/>
              <a:t>：論文沒有把它明確歸到哪一側。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FFNI 有不同的</a:t>
            </a:r>
            <a:r>
              <a:rPr b="1"/>
              <a:t>指導語版本</a:t>
            </a:r>
            <a:r>
              <a:rPr/>
              <a:t>，題目一樣，只是問的對象不同。generic 版問「你生活中的領導者」，work 版問「你工作組織裡的領導者」。5a 用 generic 版，5c 用 work 版，這也是兩者的差異之一。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一個重要的數字</a:t>
            </a:r>
            <a:r>
              <a:rPr/>
              <a:t>：人類樣本中，六個需求彼此正相關，Sample B 的範圍是 .21 到 .72，多數在 .5-.7（Table 8）。也就是說，一個人如果某個需求高，通常其他需求也高。注意：論文內文（p. 787）寫的是「.60 to .72」，和它自己的 Table 8 對不起來，以表為準。這決定了後面分析為什麼一定要「控制其他五個需求」。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5a 的設計很單純</a:t>
            </a:r>
            <a:r>
              <a:rPr/>
              <a:t>：美國受試者在同一次填答中，先填 FFNI，再填 ILT 量表。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ILT 量表怎麼填</a:t>
            </a:r>
            <a:r>
              <a:rPr/>
              <a:t>：給你 51 個形容詞，例如 </a:t>
            </a:r>
            <a:r>
              <a:rPr i="1"/>
              <a:t>strong</a:t>
            </a:r>
            <a:r>
              <a:rPr/>
              <a:t>、</a:t>
            </a:r>
            <a:r>
              <a:rPr i="1"/>
              <a:t>domineering</a:t>
            </a:r>
            <a:r>
              <a:rPr/>
              <a:t>、</a:t>
            </a:r>
            <a:r>
              <a:rPr i="1"/>
              <a:t>intelligent</a:t>
            </a:r>
            <a:r>
              <a:rPr/>
              <a:t>、</a:t>
            </a:r>
            <a:r>
              <a:rPr i="1"/>
              <a:t>honest</a:t>
            </a:r>
            <a:r>
              <a:rPr/>
              <a:t>。每個詞問你「這個特質有多像一個領導者」，1 分是完全不像，10 分是極度像。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51 個詞被歸成 11 個維度。論文把它們對應到雙路徑模型：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Dominance 側</a:t>
            </a:r>
            <a:r>
              <a:rPr/>
              <a:t>：strength（強壯）、tyranny（專橫）、masculinity（陽剛）、well-groomed（體面）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Prestige 側</a:t>
            </a:r>
            <a:r>
              <a:rPr/>
              <a:t>：sensitivity（體貼）、dedication（投入）、charisma（魅力）、creativity（創意）、intelligence（聰明）、ethics（道德）</a:t>
            </a:r>
          </a:p>
          <a:p>
            <a:pPr lvl="0" indent="0" marL="0">
              <a:buNone/>
            </a:pPr>
          </a:p>
          <a:p>
            <a:pPr lvl="0"/>
            <a:r>
              <a:rPr/>
              <a:t>另外還有 femininity，沒有對應到哪一側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樣本數的細節</a:t>
            </a:r>
            <a:r>
              <a:rPr/>
              <a:t>：Sample B 總共 1,035 人，但被隨機分成四組，只有第四組（261 人）填了 ILT。所以 5a 的有效 N 是 261，我們的 arm A 也照這個數字來。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為什麼不直接看相關係數</a:t>
            </a:r>
            <a:r>
              <a:rPr/>
              <a:t>：六個需求彼此相關 .21-.72，多數在 .5-.7。所以只要某個需求和 tyranny 有關，其他五個需求也會因為和它高度相關，而跟著和 tyranny 有關。論文 Table 13 的相關係數那一欄，每個需求和每個 ILT 維度都在 p &lt; .001 顯著，完全分不出是哪個需求在起作用。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解法</a:t>
            </a:r>
            <a:r>
              <a:rPr/>
              <a:t>：把六個需求</a:t>
            </a:r>
            <a:r>
              <a:rPr b="1"/>
              <a:t>同時</a:t>
            </a:r>
            <a:r>
              <a:rPr/>
              <a:t>放進回歸，看每個需求「扣掉其他五個之後還剩多少」。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β（標準化迴歸係數）</a:t>
            </a:r>
            <a:r>
              <a:rPr/>
              <a:t>：其他五個需求都固定時，這個需求高 1 個標準差，ILT 分數平均高幾個標準差。標準化之後沒有單位，所以不同量尺的研究可以互相比較。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ΔR²</a:t>
            </a:r>
            <a:r>
              <a:rPr/>
              <a:t>：完整模型的 R²，減掉拿掉這個需求之後的 R²，也就是這個需求「獨有」的解釋力。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 值怎麼算</a:t>
            </a:r>
            <a:r>
              <a:rPr/>
              <a:t>：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F = ΔR² ÷ [(1 − R²_full) / (n − 7)]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在「效果為 0」的假設下，F 服從自由度 (1, n − 7) 的 F 分佈。p 就是這個分佈裡比觀察到的 F 更極端的面積。n − 7 是因為有 6 個斜率加 1 個截距。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只檢定一個變項時，F = t²，所以 β 和 ΔR² 共用同一個 p。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 的意思</a:t>
            </a:r>
            <a:r>
              <a:rPr/>
              <a:t>：假設真的沒有效果，資料仍然這麼極端的機率。它</a:t>
            </a:r>
            <a:r>
              <a:rPr b="1"/>
              <a:t>不是</a:t>
            </a:r>
            <a:r>
              <a:rPr/>
              <a:t> likelihood，也</a:t>
            </a:r>
            <a:r>
              <a:rPr b="1"/>
              <a:t>不是</a:t>
            </a:r>
            <a:r>
              <a:rPr/>
              <a:t>「沒有效果的機率」。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結論是兩側都成立</a:t>
            </a:r>
            <a:r>
              <a:rPr/>
              <a:t>：</a:t>
            </a:r>
          </a:p>
          <a:p>
            <a:pPr lvl="0" indent="0" marL="0">
              <a:buNone/>
            </a:pPr>
          </a:p>
          <a:p>
            <a:pPr lvl="0"/>
            <a:r>
              <a:rPr/>
              <a:t>Dominance 側的需求（protection、status）預測 dominance 側的原型（strength、tyranny、masculinity、well-groomed）。</a:t>
            </a:r>
          </a:p>
          <a:p>
            <a:pPr lvl="0" indent="0" marL="0">
              <a:buNone/>
            </a:pPr>
          </a:p>
          <a:p>
            <a:pPr lvl="0"/>
            <a:r>
              <a:rPr/>
              <a:t>Prestige 側的需求（vision、expertise、fairness）預測 prestige 側的原型。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每個需求都找到了「自己的」維度。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ΔR² 看起來很小（.01-.06），為什麼還算數</a:t>
            </a:r>
            <a:r>
              <a:rPr/>
              <a:t>：因為這是在扣掉其他五個高度相關的需求之後，</a:t>
            </a:r>
            <a:r>
              <a:rPr b="1"/>
              <a:t>剩下的獨有部分</a:t>
            </a:r>
            <a:r>
              <a:rPr/>
              <a:t>。大部分的解釋力被六個需求共享，所以任何一個需求獨有的部分本來就不會多。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Affiliation 不在這張表上</a:t>
            </a:r>
            <a:r>
              <a:rPr/>
              <a:t>：論文中 affiliation 對全部 11 個 ILT 維度的 ΔR² 都只有 .00-.01。後面會看到，這一點在 LLM 上完全不一樣。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5c 和 5a 的流程不同</a:t>
            </a:r>
            <a:r>
              <a:rPr/>
              <a:t>：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分兩個時間點</a:t>
            </a:r>
            <a:r>
              <a:rPr/>
              <a:t>。T1 填需求，一週後的 T2 才評有效性。目的是降低「同一次填答」造成的共同方法偏誤：如果同時填兩份問卷，當下的心情或回答習慣可能讓兩邊人為地相關。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評分對象是一段行為描述</a:t>
            </a:r>
            <a:r>
              <a:rPr/>
              <a:t>，不是單一形容詞。例如一條 authoritarianism 的描述是 “Very strict with staff of other departments/divisions”（注意對象是</a:t>
            </a:r>
            <a:r>
              <a:rPr b="1"/>
              <a:t>其他部門</a:t>
            </a:r>
            <a:r>
              <a:rPr/>
              <a:t>的人，不是自己的下屬）。受試者評「如果這個人是你的領導，他有多有效」，1 到 7 分。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（描述涵蓋哪些領導風格，在下一頁。）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描述來自三套理論：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家長式領導（paternalistic）</a:t>
            </a:r>
            <a:r>
              <a:rPr/>
              <a:t>：Cheng 等人提出，華人組織常見。包括威權（authoritarianism）、仁慈（benevolence）、德行（moral character）。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轉換型領導（transformational）</a:t>
            </a:r>
            <a:r>
              <a:rPr/>
              <a:t>：Wang &amp; Howell。包括願景溝通、智力激發、團隊建立、高期望。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地位取得（status attainment）</a:t>
            </a:r>
            <a:r>
              <a:rPr/>
              <a:t>：Bai et al.。包括 dominance、narcissism（自戀）、competence、virtue。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完整題目在 </a:t>
            </a:r>
            <a:r>
              <a:rPr>
                <a:latin typeface="Courier"/>
              </a:rPr>
              <a:t>docs/sheng-2026-S10.1-effectiveness-items.md</a:t>
            </a:r>
            <a:r>
              <a:rPr/>
              <a:t>，我們整理出來是 57 條。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樣本是中國人，用中文作答，T1 有 396 人，T2 剩 367 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Model 1 vs Model 2</a:t>
            </a:r>
            <a:r>
              <a:rPr/>
              <a:t>：</a:t>
            </a:r>
          </a:p>
          <a:p>
            <a:pPr lvl="0" indent="0" marL="0">
              <a:buNone/>
            </a:pPr>
          </a:p>
          <a:p>
            <a:pPr lvl="0"/>
            <a:r>
              <a:rPr/>
              <a:t>Model 1 只放一個需求，相當於看相關。</a:t>
            </a:r>
          </a:p>
          <a:p>
            <a:pPr lvl="0" indent="0" marL="0">
              <a:buNone/>
            </a:pPr>
          </a:p>
          <a:p>
            <a:pPr lvl="0"/>
            <a:r>
              <a:rPr/>
              <a:t>Model 2 六個需求一起放，相當於 5a 的做法。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要和 5a 比較，看的是 </a:t>
            </a:r>
            <a:r>
              <a:rPr b="1"/>
              <a:t>Model 2</a:t>
            </a:r>
            <a:r>
              <a:rPr/>
              <a:t>，因為兩者用的是同一種統計量。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Prestige 側全部成立</a:t>
            </a:r>
            <a:r>
              <a:rPr/>
              <a:t>：affiliation、vision、expertise、fairness 都預測了理論上對應的領導風格，控制其他需求之後仍然顯著。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Dominance 側全部不成立</a:t>
            </a:r>
            <a:r>
              <a:rPr/>
              <a:t>：</a:t>
            </a:r>
          </a:p>
          <a:p>
            <a:pPr lvl="0" indent="0" marL="0">
              <a:buNone/>
            </a:pPr>
          </a:p>
          <a:p>
            <a:pPr lvl="0"/>
            <a:r>
              <a:rPr/>
              <a:t>Protection → safety 是最值得注意的一格。單獨看時是 .20，非常顯著；但控制其他五個需求後掉到 .05。也就是說，那 .20 是其他需求「帶進來」的，protection 本身沒有獨特的貢獻。</a:t>
            </a:r>
          </a:p>
          <a:p>
            <a:pPr lvl="0" indent="0" marL="0">
              <a:buNone/>
            </a:pPr>
          </a:p>
          <a:p>
            <a:pPr lvl="0"/>
            <a:r>
              <a:rPr/>
              <a:t>Protection、status 對 authoritarianism、narcissism、dominance 的有效性完全沒有預測力，β 都接近 0。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論文作者自己也說這個結果 “contrary to expectations”。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把 5a 和 5c 放在一起看</a:t>
            </a:r>
            <a:r>
              <a:rPr/>
              <a:t>：</a:t>
            </a:r>
          </a:p>
          <a:p>
            <a:pPr lvl="0" indent="0" marL="0">
              <a:buNone/>
            </a:pPr>
          </a:p>
          <a:p>
            <a:pPr lvl="0"/>
            <a:r>
              <a:rPr/>
              <a:t>Dominance 側：原型有、有效性沒有。</a:t>
            </a:r>
          </a:p>
          <a:p>
            <a:pPr lvl="0" indent="0" marL="0">
              <a:buNone/>
            </a:pPr>
          </a:p>
          <a:p>
            <a:pPr lvl="0"/>
            <a:r>
              <a:rPr/>
              <a:t>Prestige 側：原型有、有效性也有。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論文的解讀（pp. 788-789）是：protection 和 status 會影響「領導者應該長什麼樣子」，但不會讓人覺得 dominance 型的領導「有效」。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（下一頁講我們對這個解讀的質疑。）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我們的質疑（G5，論文沒有提）</a:t>
            </a:r>
            <a:r>
              <a:rPr/>
              <a:t>：5a 和 5c 同時在很多地方不同，包括國家、語言、FFNI 版本、評分對象、時間間隔，還有受試者本身。dominance 側在 5c 消失，可能真的是「原型和評價是兩種不同層次的心理歷程」，但也可能只是因為上面任何一項不同。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例如，在華人組織文化裡，威權型領導可能本來就被普遍評為「不有效」，大家看法一致，個體差異很小，需求自然預測不了。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這正是我們 Step 2 的設計理由</a:t>
            </a:r>
            <a:r>
              <a:rPr/>
              <a:t>：讓</a:t>
            </a:r>
            <a:r>
              <a:rPr b="1"/>
              <a:t>同一批 neutral、在同一個 run 裡</a:t>
            </a:r>
            <a:r>
              <a:rPr/>
              <a:t>同時回答原型和有效性，把上面這些干擾因素都排除掉。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為什麼要先做這一步</a:t>
            </a:r>
            <a:r>
              <a:rPr/>
              <a:t>：Step 2 的好幾個假設（H4、H5、H5b、H7b）都是拿論文的結果來比較的。如果 LLM persona 連最基本的 Study 5 都重現不出來，那 Step 2 出現的任何 null 結果都無法解讀：分不出是「真的沒有效果」，還是「這個環境本來就測不到」。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所以這一步拿掉所有東西：</a:t>
            </a:r>
            <a:r>
              <a:rPr b="1"/>
              <a:t>沒有會議、沒有威脅情境</a:t>
            </a:r>
            <a:r>
              <a:rPr/>
              <a:t>，只讓 persona 填問卷，看結果和論文像不像。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它的角色類似實驗裡的 </a:t>
            </a:r>
            <a:r>
              <a:rPr b="1"/>
              <a:t>positive control</a:t>
            </a:r>
            <a:r>
              <a:rPr/>
              <a:t>：先確認儀器能測到一個已知存在的效果，再去測未知的效果。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兩個 arm 分別對應論文的兩部分</a:t>
            </a:r>
            <a:r>
              <a:rPr/>
              <a:t>，樣本數也照論文：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Arm A</a:t>
            </a:r>
            <a:r>
              <a:rPr/>
              <a:t>：261 個 persona，用 generic 指導語填 FFNI，再填 51 題的 ILT。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Arm B</a:t>
            </a:r>
            <a:r>
              <a:rPr/>
              <a:t>：367 個 persona，用 work 指導語填 FFNI，再評 57 條領導描述的有效性。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Persona 從哪來</a:t>
            </a:r>
            <a:r>
              <a:rPr/>
              <a:t>：從 persona bank 裡挑 </a:t>
            </a:r>
            <a:r>
              <a:rPr>
                <a:latin typeface="Courier"/>
              </a:rPr>
              <a:t>ffni_mediation</a:t>
            </a:r>
            <a:r>
              <a:rPr/>
              <a:t> 主實驗沒用到的列，平均分布在 243 種 OCEAN（Big Five）組合上。全部是 neutral，沒有 P/D 特質。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Fresh fork</a:t>
            </a:r>
            <a:r>
              <a:rPr/>
              <a:t>：每份問卷都在一個新的 fork 上作答。也就是說，persona 填 ILT 時，「記憶」裡沒有自己剛剛填過的 FFNI 答案。這是為了避免 LLM 為了「前後一致」而刻意讓答案互相呼應。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分析完全照論文</a:t>
            </a:r>
            <a:r>
              <a:rPr/>
              <a:t>：每個維度跑一次回歸，六個需求一起放，報告 β 和 ΔR² F 檢定的 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判準</a:t>
            </a:r>
            <a:r>
              <a:rPr/>
              <a:t>：</a:t>
            </a:r>
          </a:p>
          <a:p>
            <a:pPr lvl="0" indent="0" marL="0">
              <a:buNone/>
            </a:pPr>
          </a:p>
          <a:p>
            <a:pPr lvl="0"/>
            <a:r>
              <a:rPr/>
              <a:t>論文顯著的格子：我們也要 p &lt; .05，而且 β 的方向相同。</a:t>
            </a:r>
          </a:p>
          <a:p>
            <a:pPr lvl="0" indent="0" marL="0">
              <a:buNone/>
            </a:pPr>
          </a:p>
          <a:p>
            <a:pPr lvl="0"/>
            <a:r>
              <a:rPr/>
              <a:t>論文不顯著的格子：我們 p ≥ .05 就算 replicate。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這個判準的弱點，要先講清楚</a:t>
            </a:r>
            <a:r>
              <a:rPr/>
              <a:t>：「p ≥ .05」只代表沒辦法排除效果為 0，不代表</a:t>
            </a:r>
            <a:r>
              <a:rPr b="1"/>
              <a:t>證明</a:t>
            </a:r>
            <a:r>
              <a:rPr/>
              <a:t>效果是 0。例如後面 Protection → authoritarianism 的 p = .077，β = −.11，被算作「Yes (null)」，但這其實只是「差一點顯著」。要真正主張「沒有效果」，需要等價檢定（例如 TOST）。所以表上的「Yes (null)」是比較弱的證據。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沒做多重比較校正</a:t>
            </a:r>
            <a:r>
              <a:rPr/>
              <a:t>：照論文的做法。但要記得，arm B 有 13 個檢定，就算全部都沒有真實效果，平均也會有 13 × .05 ≈ 0.65 個格子「碰巧」p &lt; .05。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無法消除的差異</a:t>
            </a:r>
            <a:r>
              <a:rPr/>
              <a:t>：受試者是 LLM、arm B 是英文、沒有一週的間隔。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Arm A 對應 Table 13</a:t>
            </a:r>
            <a:r>
              <a:rPr/>
              <a:t>，14 格中有 10 格 replicate，拆成 dominance 側（這頁）和 prestige 側（下一頁）兩張表。這 14 格在論文裡全部顯著，所以判準都是「我們也要 p &lt; .05 且方向相同」。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失敗的 4 格裡，有 3 格在 dominance 側</a:t>
            </a:r>
            <a:r>
              <a:rPr/>
              <a:t>：protection → strength、status → masculinity、status → well-groomed。dominance 側只有 status → tyranny 成功，而且效果大小和論文很接近（.28 vs .32）。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舉兩個例子看 p 怎麼算出來的</a:t>
            </a:r>
            <a:r>
              <a:rPr/>
              <a:t>：</a:t>
            </a:r>
          </a:p>
          <a:p>
            <a:pPr lvl="0" indent="0" marL="0">
              <a:buNone/>
            </a:pPr>
          </a:p>
          <a:p>
            <a:pPr lvl="0"/>
            <a:r>
              <a:rPr/>
              <a:t>Status → tyranny：ΔR² = .042，R² = .315，F = .042 × 254 / .685 ≈ 15.6，p ≈ .0001。</a:t>
            </a:r>
          </a:p>
          <a:p>
            <a:pPr lvl="0" indent="0" marL="0">
              <a:buNone/>
            </a:pPr>
          </a:p>
          <a:p>
            <a:pPr lvl="0"/>
            <a:r>
              <a:rPr/>
              <a:t>Protection → strength：ΔR² = .0009，R² = .314，F ≈ 0.35，p = .557。這個 F 落在 F 分佈的正中間，完全看不出效果。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Prestige 側 10 格中有 9 格成功</a:t>
            </a:r>
            <a:r>
              <a:rPr/>
              <a:t>，唯一失敗的是 fairness → intelligence（.11，p = .261）。合計 arm A 是 14 格中 10 格 replicate。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Arm B 對應 Table 3 Model 2</a:t>
            </a:r>
            <a:r>
              <a:rPr/>
              <a:t>，13 格中有 8 格 replicate，拆成論文顯著的 5 格（這頁）和論文不顯著的 8 格（下一頁）。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論文顯著的 5 格全部 replicate</a:t>
            </a:r>
            <a:r>
              <a:rPr/>
              <a:t>，其中 4 格效果比論文大（fairness → moral character 是 .17，比論文的 .25 小）。例如 affiliation → benevolence，論文是 .10，我們是 .67。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（論文不顯著的 8 格在下一頁。）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論文不顯著的 8 格，只有 3 格維持不顯著</a:t>
            </a:r>
            <a:r>
              <a:rPr/>
              <a:t>。失敗的 5 格是我們出現了論文沒有的效果：</a:t>
            </a:r>
          </a:p>
          <a:p>
            <a:pPr lvl="0" indent="0" marL="0">
              <a:buNone/>
            </a:pPr>
          </a:p>
          <a:p>
            <a:pPr lvl="0"/>
            <a:r>
              <a:rPr/>
              <a:t>Protection → safety .22：論文控制其他需求後是 .05，我們仍然很顯著。另外要注意，safety 指的是</a:t>
            </a:r>
            <a:r>
              <a:rPr b="1"/>
              <a:t>職場安全</a:t>
            </a:r>
            <a:r>
              <a:rPr/>
              <a:t>（安全和產量、營收之間的取捨），不是保護群體免受威脅；它只有 3 題，α = .57。</a:t>
            </a:r>
          </a:p>
          <a:p>
            <a:pPr lvl="0" indent="0" marL="0">
              <a:buNone/>
            </a:pPr>
          </a:p>
          <a:p>
            <a:pPr lvl="0"/>
            <a:r>
              <a:rPr/>
              <a:t>Status → authoritarianism、dominance 都是 .14，p = .038。p 剛好低於 .05，又是在 13 個未校正的檢定裡，所以證據很弱。</a:t>
            </a:r>
          </a:p>
          <a:p>
            <a:pPr lvl="0" indent="0" marL="0">
              <a:buNone/>
            </a:pPr>
          </a:p>
          <a:p>
            <a:pPr lvl="0"/>
            <a:r>
              <a:rPr/>
              <a:t>Vision → high-expectation、expertise → competence：效果合理，只是論文沒有找到。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整體來說，LLM persona 的效果偏大、偏「乾淨」</a:t>
            </a:r>
            <a:r>
              <a:rPr/>
              <a:t>：需求和對應風格之間的連結比人類更強。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第一個結論是好消息</a:t>
            </a:r>
            <a:r>
              <a:rPr/>
              <a:t>：prestige 側在兩個 arm 都穩定重現。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表面上看，「需求 → prestige 原型」和「需求 → prestige 風格有效性」這兩條路在 LLM persona 上都測得到，可以當 Step 2 的 positive control。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但 Reading 6 會提出一個假設：這些相關有很大一部分來自 persona 的 OCEAN 設定，而不是需求本身。如果這個假設成立，prestige 側當 positive control 的價值會打折扣。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Dominance 側的結果變數卡在量尺邊緣。</a:t>
            </a:r>
            <a:r>
              <a:rPr/>
              <a:t> README 原本把這當成失敗的原因，現在我們認為它比較可能是結果，見 Reading 6。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天花板效應（arm A）</a:t>
            </a:r>
            <a:r>
              <a:rPr/>
              <a:t>：strength 在 1-10 分裡平均 7.75，標準差只有 0.39。幾乎所有 persona 都給「強壯」很高的分數。protection 和 strength 的相關只有 .01，連控制其他需求之前都沒有關係。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地板效應（arm B）</a:t>
            </a:r>
            <a:r>
              <a:rPr/>
              <a:t>：narcissism、dominance、authoritarianism 在 1-7 分裡平均都只有 1.5-2.1，標準差 0.2-0.3。幾乎所有 persona 都覺得支配型領導「不有效」。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為什麼這會讓效果消失</a:t>
            </a:r>
            <a:r>
              <a:rPr/>
              <a:t>：回歸要找的是「需求高的人，分數是不是也比較高」。如果每個人的分數都差不多，結果變數就沒有變異可以解釋，任何預測變項都預測不了。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但地板和天花板解釋不了全部</a:t>
            </a:r>
            <a:r>
              <a:rPr/>
              <a:t>：masculinity 平均 2.96、標準差 0.89（1-10 分），分數有空間變動，但 status 和 masculinity 的相關還是只有 .08。所以應該有一個更根本的原因，同時解釋「沒有相關」和「分數擠在一起」。Reading 6 提出一個假設。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Affiliation 幾乎等於 persona 的 agreeableness 設定</a:t>
            </a:r>
            <a:r>
              <a:rPr/>
              <a:t>：兩者相關 .89。所以 affiliation 在回歸裡帶進了「這個 persona 有多 agreeable」，產生很多論文裡沒有的大效果，例如對 sensitivity 的 β = .74。affiliation → tyranny 的 β 甚至是 −.41，意思是越 agreeable 的 persona 越不認為領導者應該專橫。這些效果反映的是 persona 的設定方式，不是人類的需求結構。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（另外兩點差異在下一頁。）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需求之間的相關結構不同，而且差異集中在 dominance 側。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這張表是每一對需求的 Pearson 相關。論文數字取自 Table 8 的下三角：Sample B（美國，generic，N = 1,035）對照 arm A，Sample E T1（中國，work，N = 396）對照 arm B。我們的數字是每個需求取題目平均後算的。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先更正一件事</a:t>
            </a:r>
            <a:r>
              <a:rPr/>
              <a:t>：論文內文（p. 787）寫「r ranged from .60 to .72; see Table 8」，但 Table 8 裡 Sample B 的實際範圍是 .21 到 .72。我們之前的 README 照抄了內文，已經改掉。另外，論文沒有單獨報告做 ILT 的那 261 人的矩陣，所以拿全部 1,035 人來比。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這一頁是有 protection 或 status 的 9 對</a:t>
            </a:r>
            <a:r>
              <a:rPr/>
              <a:t>：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Protection</a:t>
            </a:r>
            <a:r>
              <a:rPr/>
              <a:t>：在論文裡和每個需求都有 .49-.60 的相關；在 arm A 裡和 status、vision、expertise 幾乎是 0。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Status</a:t>
            </a:r>
            <a:r>
              <a:rPr/>
              <a:t>：在論文裡全部正相關；在我們這裡和 affiliation、expertise、fairness 變成負的。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Status–fairness</a:t>
            </a:r>
            <a:r>
              <a:rPr/>
              <a:t>：論文裡本來就是最低的一對（.21），LLM persona 把它推到 −.50。所以這不是全新的模式，而是論文模式的放大版。persona 似乎把「想要地位」和「想要公平」當成互相衝突的價值，人類則只是兩者比較不相關。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dominance 側正是 replication 失敗的那一側。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Prestige 群組的相關保留得很好</a:t>
            </a:r>
            <a:r>
              <a:rPr/>
              <a:t>：affiliation、vision、expertise、fairness 之間，論文是 .55-.72，arm A 是 .39-.70，大致相同。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Sample E（中國）的相關本來就低很多</a:t>
            </a:r>
            <a:r>
              <a:rPr/>
              <a:t>，全部只有 .10-.39。arm B 的 prestige 群組（.37-.65）反而比 Sample E 更像 Sample B。所以 arm B 拿來對照的 Sample E，需求結構本身就和美國樣本不同，這也是 G5 提到的國家差異之一。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最後一列是全部 15 對的範圍。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兩個 arm 的需求平均數幾乎一樣。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Fairness</a:t>
            </a:r>
            <a:r>
              <a:rPr/>
              <a:t> 平均 6.55，接近 7 分的天花板。分數擠在頂端時，變異變小，和其他變數的相關也容易被壓低。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Status</a:t>
            </a:r>
            <a:r>
              <a:rPr/>
              <a:t> 是唯一低於量尺中點的需求（2.86、3.02），persona 普遍不想要「提升地位」的領導者。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Affiliation</a:t>
            </a:r>
            <a:r>
              <a:rPr/>
              <a:t> 的標準差（1.8）是其他需求的兩倍左右。這和 Reading 3 一致：affiliation 跟著 persona 的 agreeableness 設定（高／中／低）走，所以分布特別寬。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G1 沒有出現，甚至方向相反</a:t>
            </a:r>
            <a:r>
              <a:rPr/>
              <a:t>：論文是「原型有、有效性沒有」；我們的 protection 是「原型沒有（.04）、有效性有（.22）」。不過因為上一頁講的地板和天花板效應，這個結果不能拿來反駁 G1。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這一頁開始是假設，不是結論。</a:t>
            </a:r>
            <a:r>
              <a:rPr/>
              <a:t> 它是一個符合目前資料的解釋，但還沒有用實驗直接檢驗過。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出發點</a:t>
            </a:r>
            <a:r>
              <a:rPr/>
              <a:t>：replication 裡每份問卷都在新的 fork 上作答。persona 填 ILT 的時候，看不到自己剛填的 FFNI。那需求分數和 ILT 分數為什麼會相關？唯一可能的管道，是兩次作答共用的東西：persona 的 OCEAN 設定和描述文字。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推論</a:t>
            </a:r>
            <a:r>
              <a:rPr/>
              <a:t>：</a:t>
            </a:r>
          </a:p>
          <a:p>
            <a:pPr lvl="0" indent="0" marL="0">
              <a:buNone/>
            </a:pPr>
          </a:p>
          <a:p>
            <a:pPr lvl="0"/>
            <a:r>
              <a:rPr/>
              <a:t>如果某個 OCEAN 特質同時推動一個需求和一個結果，兩者就會相關。例如高 agreeableness 的 persona，既會「需要 affiliation」，也會「覺得 benevolence 有效」。這樣的相關方向和論文一致，看起來像複製成功，但其實不需要「需求影響評價」這個心理歷程。</a:t>
            </a:r>
          </a:p>
          <a:p>
            <a:pPr lvl="0" indent="0" marL="0">
              <a:buNone/>
            </a:pPr>
          </a:p>
          <a:p>
            <a:pPr lvl="0"/>
            <a:r>
              <a:rPr/>
              <a:t>如果沒有任何特質同時推動兩者，兩者之間就沒有任何連結。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假設</a:t>
            </a:r>
            <a:r>
              <a:rPr/>
              <a:t>：prestige 側屬於第一種，dominance 側屬於第二種。下一頁是數據。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怎麼算的</a:t>
            </a:r>
            <a:r>
              <a:rPr/>
              <a:t>（</a:t>
            </a:r>
            <a:r>
              <a:rPr>
                <a:latin typeface="Courier"/>
              </a:rPr>
              <a:t>tools/ocean_confound.py</a:t>
            </a:r>
            <a:r>
              <a:rPr/>
              <a:t>）：把每個需求、每個結果都拿去對 OCEAN 做回歸，每個特質用「中」「高」兩個虛擬變項。然後算三個數字：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r</a:t>
            </a:r>
            <a:r>
              <a:rPr/>
              <a:t>：原始相關。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r, OCEAN removed</a:t>
            </a:r>
            <a:r>
              <a:rPr/>
              <a:t>：兩邊都扣掉 OCEAN 能預測的部分後，剩下的相關。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r of OCEAN parts</a:t>
            </a:r>
            <a:r>
              <a:rPr/>
              <a:t>：兩邊「被 OCEAN 預測出來的部分」之間的相關。這個值高，代表需求和結果是被</a:t>
            </a:r>
            <a:r>
              <a:rPr b="1"/>
              <a:t>同一組特質</a:t>
            </a:r>
            <a:r>
              <a:rPr/>
              <a:t>推動的。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看到的模式</a:t>
            </a:r>
            <a:r>
              <a:rPr/>
              <a:t>：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Prestige 側</a:t>
            </a:r>
            <a:r>
              <a:rPr/>
              <a:t>：OCEAN 部分的相關是 .56-.97，需求和結果吃的是同一組特質。扣掉 OCEAN 之後，原始相關大部分不見了（arm A 從 .34-.63 掉到 .05-.24）。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Dominance 側</a:t>
            </a:r>
            <a:r>
              <a:rPr/>
              <a:t>：OCEAN 部分的相關是 −.06 到 .48，需求和結果吃的是不同的特質，或根本不吃 OCEAN。所以沒有共同的來源可以產生相關。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arm A 裡唯一 replicate 的 dominance 格子 status → tyranny，正好是 OCEAN 部分重疊最多的一格（.48）</a:t>
            </a:r>
            <a:r>
              <a:rPr/>
              <a:t>，和假設一致。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地板和天花板也能用同一個假設解釋</a:t>
            </a:r>
            <a:r>
              <a:rPr/>
              <a:t>：dominance 側的結果幾乎不受 OCEAN 影響（arm B 的 R² 只有 .09-.11，arm A 是 .19-.40；arm A 的 prestige 維度是 .40-.83）。persona 設定推不動這些分數，剩下的只有模型本身的共識，而這個共識是一致的，所以分數擠在一起。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限制</a:t>
            </a:r>
            <a:r>
              <a:rPr/>
              <a:t>：</a:t>
            </a:r>
          </a:p>
          <a:p>
            <a:pPr lvl="0" indent="0" marL="0">
              <a:buNone/>
            </a:pPr>
          </a:p>
          <a:p>
            <a:pPr lvl="0"/>
            <a:r>
              <a:rPr/>
              <a:t>10 個虛擬變項放在 n = 261 或 367 上，R² 會有點高估。</a:t>
            </a:r>
          </a:p>
          <a:p>
            <a:pPr lvl="0" indent="0" marL="0">
              <a:buNone/>
            </a:pPr>
          </a:p>
          <a:p>
            <a:pPr lvl="0"/>
            <a:r>
              <a:rPr/>
              <a:t>描述文字沒有放進模型，所以「扣掉 OCEAN 後還剩的相關」有一部分可能來自描述文字。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直接的檢驗</a:t>
            </a:r>
            <a:r>
              <a:rPr/>
              <a:t>還沒做：例如固定 OCEAN、只改描述文字，或在 persona 裡加入一個專門推動 dominance 側需求的屬性，看 dominance 側的格子會不會出現。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對 Step 2 的影響</a:t>
            </a:r>
            <a:r>
              <a:rPr/>
              <a:t>：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Prestige 側</a:t>
            </a:r>
            <a:r>
              <a:rPr/>
              <a:t>的結果可以和論文比較。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Dominance 側</a:t>
            </a:r>
            <a:r>
              <a:rPr/>
              <a:t>的結果，不管出來是 null 還是顯著，都</a:t>
            </a:r>
            <a:r>
              <a:rPr b="1"/>
              <a:t>不能直接和論文比較</a:t>
            </a:r>
            <a:r>
              <a:rPr/>
              <a:t>。在還沒操弄任何情境之前，這個環境的量尺就已經限制了它。如果 Step 2 的 H5 出現 protection → D 有效性的 null，那不能解讀成「replicate 了 G1」，因為這個 null 在 replication 階段就已經可以預期。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判讀時的兩個提醒</a:t>
            </a:r>
            <a:r>
              <a:rPr/>
              <a:t>：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看效果大小，不只看 p</a:t>
            </a:r>
            <a:r>
              <a:rPr/>
              <a:t>。F 的分子乘上了 (n − 7)，所以同樣的 ΔR²，n 越大 p 越小。真人研究受限於預算，但模擬加跑 persona 幾乎沒有成本，只要 n 夠大，幾乎任何非零效果都會顯著。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「Yes (null)」是弱證據</a:t>
            </a:r>
            <a:r>
              <a:rPr/>
              <a:t>。p ≥ .05 只代表沒有排除 0。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如果 Reading 6 的假設成立</a:t>
            </a:r>
            <a:r>
              <a:rPr/>
              <a:t>：</a:t>
            </a:r>
          </a:p>
          <a:p>
            <a:pPr lvl="0" indent="0" marL="0">
              <a:buNone/>
            </a:pPr>
          </a:p>
          <a:p>
            <a:pPr lvl="0"/>
            <a:r>
              <a:rPr/>
              <a:t>Prestige 側的結果，主要說明 persona 的設定前後一致，而不是需求在起作用。Step 2 分析需求時應該控制 OCEAN，或至少在原始 r 旁邊同時報告扣掉 OCEAN 後的 r。</a:t>
            </a:r>
          </a:p>
          <a:p>
            <a:pPr lvl="0" indent="0" marL="0">
              <a:buNone/>
            </a:pPr>
          </a:p>
          <a:p>
            <a:pPr lvl="0"/>
            <a:r>
              <a:rPr/>
              <a:t>單靠改 dominance 題目的措辭讓分數散開沒有用，因為多出來的變異還是和需求無關。要讓 dominance 側出現，persona 設定本身就要帶有和 dominance 相關的個體差異。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這些都建立在一個還沒被直接檢驗的假設上，所以目前只是方向，還沒有決定要做。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Sheng et al. (2026) Study 5, and Its Replication on LLM Personas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agent-sim / ffni_mediation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2026-10-06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Study 5 in one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Source: Sheng, Andrews &amp; van Vugt (2026), </a:t>
            </a:r>
            <a:r>
              <a:rPr i="1"/>
              <a:t>J. Applied Psychology</a:t>
            </a:r>
            <a:r>
              <a:rPr/>
              <a:t>, 111(6)</a:t>
            </a:r>
          </a:p>
          <a:p>
            <a:pPr lvl="0"/>
            <a:r>
              <a:rPr/>
              <a:t>Question: what do the six follower needs predict?</a:t>
            </a:r>
          </a:p>
          <a:p>
            <a:pPr lvl="0"/>
            <a:r>
              <a:rPr/>
              <a:t>Two levels of outcome</a:t>
            </a:r>
          </a:p>
          <a:p>
            <a:pPr lvl="1"/>
            <a:r>
              <a:rPr b="1"/>
              <a:t>Prototype</a:t>
            </a:r>
            <a:r>
              <a:rPr/>
              <a:t> (cognition): what a leader </a:t>
            </a:r>
            <a:r>
              <a:rPr i="1"/>
              <a:t>should</a:t>
            </a:r>
            <a:r>
              <a:rPr/>
              <a:t> look like (ILT)</a:t>
            </a:r>
          </a:p>
          <a:p>
            <a:pPr lvl="1"/>
            <a:r>
              <a:rPr b="1"/>
              <a:t>Effectiveness</a:t>
            </a:r>
            <a:r>
              <a:rPr/>
              <a:t> (perception): how well a leadership style works</a:t>
            </a:r>
          </a:p>
          <a:p>
            <a:pPr lvl="0"/>
            <a:r>
              <a:rPr/>
              <a:t>5a: needs → prototype · 5b: FFNI vs. older need measures · 5c: needs → effectiveness</a:t>
            </a:r>
          </a:p>
          <a:p>
            <a:pPr lvl="0"/>
            <a:r>
              <a:rPr/>
              <a:t>All parts are correlational, each on a different sample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Study 5 at a glance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00"/>
                <a:gridCol w="2133600"/>
                <a:gridCol w="3289300"/>
                <a:gridCol w="2133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Analysis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B: US, N = 261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Generic FFNI; ILT, 51 trait words, 11 dimensions, 1-10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Hierarchical regression (ΔR²), relative weights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D: UK, N = 295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 FFNI, older need measures, ILT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ΔR² of FFNI over older measures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E: China, N = 396 (T1), 367 (T2)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T1 work FFNI; T2 (+1 week) ~50 descriptions rated for effectiveness, 1-7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Preregistered regressions, Model 1 and Model 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predictors: six follower needs (FFNI)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Protection</a:t>
            </a:r>
            <a:r>
              <a:rPr/>
              <a:t>: shield me from threats → Dominance side</a:t>
            </a:r>
          </a:p>
          <a:p>
            <a:pPr lvl="0"/>
            <a:r>
              <a:rPr b="1"/>
              <a:t>Status</a:t>
            </a:r>
            <a:r>
              <a:rPr/>
              <a:t>: raise my group’s standing → Dominance side</a:t>
            </a:r>
          </a:p>
          <a:p>
            <a:pPr lvl="0"/>
            <a:r>
              <a:rPr b="1"/>
              <a:t>Affiliation</a:t>
            </a:r>
            <a:r>
              <a:rPr/>
              <a:t>: keep the group together</a:t>
            </a:r>
          </a:p>
          <a:p>
            <a:pPr lvl="0"/>
            <a:r>
              <a:rPr b="1"/>
              <a:t>Vision</a:t>
            </a:r>
            <a:r>
              <a:rPr/>
              <a:t>: show us where to go → Prestige side</a:t>
            </a:r>
          </a:p>
          <a:p>
            <a:pPr lvl="0"/>
            <a:r>
              <a:rPr b="1"/>
              <a:t>Expertise</a:t>
            </a:r>
            <a:r>
              <a:rPr/>
              <a:t>: know what you are doing → Prestige side</a:t>
            </a:r>
          </a:p>
          <a:p>
            <a:pPr lvl="0"/>
            <a:r>
              <a:rPr b="1"/>
              <a:t>Fairness</a:t>
            </a:r>
            <a:r>
              <a:rPr/>
              <a:t>: treat people justly → Prestige side</a:t>
            </a:r>
          </a:p>
          <a:p>
            <a:pPr lvl="0"/>
            <a:r>
              <a:rPr/>
              <a:t>Instruction versions: </a:t>
            </a:r>
            <a:r>
              <a:rPr i="1"/>
              <a:t>generic</a:t>
            </a:r>
            <a:r>
              <a:rPr/>
              <a:t> (“leaders in your life”), </a:t>
            </a:r>
            <a:r>
              <a:rPr i="1"/>
              <a:t>work</a:t>
            </a:r>
            <a:r>
              <a:rPr/>
              <a:t> (“leaders in your WORK ORGANIZATION”)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5a: needs → leader prototype (design)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Sample B: United States, N = 261 (p. 777)</a:t>
            </a:r>
          </a:p>
          <a:p>
            <a:pPr lvl="0"/>
            <a:r>
              <a:rPr/>
              <a:t>One sitting: generic FFNI, then ILT</a:t>
            </a:r>
          </a:p>
          <a:p>
            <a:pPr lvl="0"/>
            <a:r>
              <a:rPr/>
              <a:t>ILT (Offermann &amp; Coats, 2018): 51 trait words, 11 dimensions, 1-10</a:t>
            </a:r>
          </a:p>
          <a:p>
            <a:pPr lvl="0"/>
            <a:r>
              <a:rPr/>
              <a:t>Dominance side: strength, tyranny, masculinity, well-groomed</a:t>
            </a:r>
          </a:p>
          <a:p>
            <a:pPr lvl="0"/>
            <a:r>
              <a:rPr/>
              <a:t>Prestige side: sensitivity, dedication, charisma, creativity, intelligence, ethics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5a: analysis, why every need is controlled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One regression per ILT dimension, all six needs entered together</a:t>
            </a:r>
          </a:p>
          <a:p>
            <a:pPr lvl="0"/>
            <a:r>
              <a:rPr/>
              <a:t>Needs intercorrelate .21-.72 (Table 8), so </a:t>
            </a:r>
            <a:r>
              <a:rPr i="1"/>
              <a:t>every</a:t>
            </a:r>
            <a:r>
              <a:rPr/>
              <a:t> bivariate r is significant</a:t>
            </a:r>
          </a:p>
          <a:p>
            <a:pPr lvl="0"/>
            <a:r>
              <a:rPr/>
              <a:t>Only the increment over the other five separates them</a:t>
            </a:r>
          </a:p>
          <a:p>
            <a:pPr lvl="0"/>
            <a:r>
              <a:rPr/>
              <a:t>Reported per cell: standardised </a:t>
            </a:r>
            <a:r>
              <a:rPr b="1"/>
              <a:t>β</a:t>
            </a:r>
            <a:r>
              <a:rPr/>
              <a:t> and unique </a:t>
            </a:r>
            <a:r>
              <a:rPr b="1"/>
              <a:t>ΔR²</a:t>
            </a:r>
          </a:p>
          <a:p>
            <a:pPr lvl="0"/>
            <a:r>
              <a:rPr/>
              <a:t>ΔR² F test, df (1, n − 7): β and ΔR² share one p-value</a:t>
            </a:r>
          </a:p>
          <a:p>
            <a:pPr lvl="0"/>
            <a:r>
              <a:rPr/>
              <a:t>Relative-weights analysis as a complement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5a: results (Table 13)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5549900"/>
                <a:gridCol w="1333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ILT dimensions it uniquely predicts, β (ΔR²)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Side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strength .26 (.03)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tyranny .32 (.06), masculinity .19 (.02), well-groomed .30 (.05)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sensitivity .20 (.01), dedication .30 (.03), charisma .19 (.01), creativity .24 (.02)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Expertise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sensitivity .32 (.04), charisma .22 (.02), intelligence .21 (.02)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Fairness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dedication .25 (.03), intelligence .26 (.03), ethics .29 (.04)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5c: needs → perceived effectiveness (design)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Sample E: China, in Chinese, preregistered (AsPredicted)</a:t>
            </a:r>
          </a:p>
          <a:p>
            <a:pPr lvl="0"/>
            <a:r>
              <a:rPr/>
              <a:t>T1: work FFNI (N = 396)</a:t>
            </a:r>
          </a:p>
          <a:p>
            <a:pPr lvl="0"/>
            <a:r>
              <a:rPr/>
              <a:t>T2, one week later: ~50 leadership descriptions (N = 367)</a:t>
            </a:r>
          </a:p>
          <a:p>
            <a:pPr lvl="0"/>
            <a:r>
              <a:rPr/>
              <a:t>“How effective would these individuals be as your own leaders?” 1-7</a:t>
            </a:r>
          </a:p>
          <a:p>
            <a:pPr lvl="0"/>
            <a:r>
              <a:rPr/>
              <a:t>Model 1: the need alone · </a:t>
            </a:r>
            <a:r>
              <a:rPr b="1"/>
              <a:t>Model 2</a:t>
            </a:r>
            <a:r>
              <a:rPr/>
              <a:t>: other five needs controlled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5c: what the descriptions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Paternalistic</a:t>
            </a:r>
            <a:r>
              <a:rPr/>
              <a:t> (Cheng et al.): authoritarianism, benevolence, moral character</a:t>
            </a:r>
          </a:p>
          <a:p>
            <a:pPr lvl="0"/>
            <a:r>
              <a:rPr b="1"/>
              <a:t>Transformational</a:t>
            </a:r>
            <a:r>
              <a:rPr/>
              <a:t> (Wang &amp; Howell): vision communication, intellectual stimulation, team-building, high-expectation</a:t>
            </a:r>
          </a:p>
          <a:p>
            <a:pPr lvl="0"/>
            <a:r>
              <a:rPr b="1"/>
              <a:t>Status attainment</a:t>
            </a:r>
            <a:r>
              <a:rPr/>
              <a:t> (Bai et al.): dominance, narcissism, competence, virtue</a:t>
            </a:r>
          </a:p>
          <a:p>
            <a:pPr lvl="0"/>
            <a:r>
              <a:rPr/>
              <a:t>Full items: </a:t>
            </a:r>
            <a:r>
              <a:rPr>
                <a:latin typeface="Courier"/>
              </a:rPr>
              <a:t>docs/sheng-2026-S10.1-effectiveness-items.md</a:t>
            </a:r>
            <a:r>
              <a:rPr/>
              <a:t> (57)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5c: results (Table 3)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 → effectiveness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 1 (need alone)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 2 (others controlled)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Protection → safety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.20***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Protection → authoritarianism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 → narcissism / authoritarianism / 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.03 / −.02 / −.05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.04 / −.02 / .02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Affiliation → benevolence / team-building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.31*** / .46***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.10* / .36***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 → vision communication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.32***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.18**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Expertise → intellectual stimulation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.31***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.13*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Fairness → moral character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.36***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.25***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gap (G1): prototype yes, evaluation no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200"/>
                <a:gridCol w="2679700"/>
                <a:gridCol w="2679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→ prototype (5a)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→ effectiveness (5c)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 side (protection, status)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 side (vision, expertise, fairness)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41600"/>
            <a:ext cx="8229600" cy="1816100"/>
          </a:xfrm>
        </p:spPr>
        <p:txBody>
          <a:bodyPr/>
          <a:lstStyle/>
          <a:p>
            <a:pPr lvl="0"/>
            <a:r>
              <a:rPr/>
              <a:t>Same statistic at both levels: β, other five needs controlled</a:t>
            </a:r>
          </a:p>
          <a:p>
            <a:pPr lvl="0"/>
            <a:r>
              <a:rPr/>
              <a:t>Paper’s reading: protection and status shape the prototype but not the evaluation (pp. 788-789)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reading (G5): 5a and 5c differ on everything at once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800"/>
                <a:gridCol w="3136900"/>
                <a:gridCol w="31369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5a (prototype)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5c (effectiveness)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Country, language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US, English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China, Chinese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FFNI 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Rated target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 trait words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Behaviour descriptions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sitting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One-week gap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Respondents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 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 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33800"/>
            <a:ext cx="8229600" cy="723900"/>
          </a:xfrm>
        </p:spPr>
        <p:txBody>
          <a:bodyPr/>
          <a:lstStyle/>
          <a:p>
            <a:pPr lvl="0"/>
            <a:r>
              <a:rPr/>
              <a:t>Any of these could explain the gap as well as “two levels”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replicate on LLM personas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Step 2 tests H4, H5, H5b, H7b against Sheng et al.’s results</a:t>
            </a:r>
          </a:p>
          <a:p>
            <a:pPr lvl="0"/>
            <a:r>
              <a:rPr/>
              <a:t>Before reading those, check: do LLM personas reproduce Study 5 </a:t>
            </a:r>
            <a:r>
              <a:rPr i="1"/>
              <a:t>at all</a:t>
            </a:r>
            <a:r>
              <a:rPr/>
              <a:t>?</a:t>
            </a:r>
          </a:p>
          <a:p>
            <a:pPr lvl="0"/>
            <a:r>
              <a:rPr/>
              <a:t>If not, a Step 2 null cannot be read as a finding</a:t>
            </a:r>
          </a:p>
          <a:p>
            <a:pPr lvl="0"/>
            <a:r>
              <a:rPr/>
              <a:t>No meeting, no situation: only the questionnaires</a:t>
            </a:r>
          </a:p>
          <a:p>
            <a:pPr lvl="0"/>
            <a:r>
              <a:rPr>
                <a:latin typeface="Courier"/>
              </a:rPr>
              <a:t>tools/replicate_study5.py</a:t>
            </a:r>
            <a:r>
              <a:rPr/>
              <a:t>, </a:t>
            </a:r>
            <a:r>
              <a:rPr>
                <a:latin typeface="Courier"/>
              </a:rPr>
              <a:t>gpt-4.1</a:t>
            </a:r>
            <a:r>
              <a:rPr/>
              <a:t>, temperature 0; data in </a:t>
            </a:r>
            <a:r>
              <a:rPr>
                <a:latin typeface="Courier"/>
              </a:rPr>
              <a:t>results/replication/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Replication: method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2108200"/>
                <a:gridCol w="762000"/>
                <a:gridCol w="459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Compares 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Measures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 13 (5a)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Generic FFNI, then ILT (51 items, 1-10)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 3, Model 2 (5c)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 FFNI, then the 57 descriptions (1-7)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41600"/>
            <a:ext cx="8229600" cy="1816100"/>
          </a:xfrm>
        </p:spPr>
        <p:txBody>
          <a:bodyPr/>
          <a:lstStyle/>
          <a:p>
            <a:pPr lvl="0"/>
            <a:r>
              <a:rPr/>
              <a:t>Personas: unused bank rows over the 243 OCEAN profiles; neutral (no P/D traits)</a:t>
            </a:r>
          </a:p>
          <a:p>
            <a:pPr lvl="0"/>
            <a:r>
              <a:rPr/>
              <a:t>Each instrument on a fresh fork; same analysis as the paper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Replication: what counts as “replicates”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Paper significant → ours has the </a:t>
            </a:r>
            <a:r>
              <a:rPr b="1"/>
              <a:t>same sign</a:t>
            </a:r>
            <a:r>
              <a:rPr/>
              <a:t> at p &lt; .05</a:t>
            </a:r>
          </a:p>
          <a:p>
            <a:pPr lvl="0"/>
            <a:r>
              <a:rPr/>
              <a:t>Paper null → ours p ≥ .05</a:t>
            </a:r>
          </a:p>
          <a:p>
            <a:pPr lvl="0"/>
            <a:r>
              <a:rPr/>
              <a:t>No multiple-comparison correction, as in the paper</a:t>
            </a:r>
          </a:p>
          <a:p>
            <a:pPr lvl="0"/>
            <a:r>
              <a:rPr/>
              <a:t>Differences we cannot remove</a:t>
            </a:r>
          </a:p>
          <a:p>
            <a:pPr lvl="1"/>
            <a:r>
              <a:rPr/>
              <a:t>Respondents are LLM personas, not people</a:t>
            </a:r>
          </a:p>
          <a:p>
            <a:pPr lvl="1"/>
            <a:r>
              <a:rPr/>
              <a:t>Arm B is in English; Sample E answered in Chinese</a:t>
            </a:r>
          </a:p>
          <a:p>
            <a:pPr lvl="1"/>
            <a:r>
              <a:rPr/>
              <a:t>No one-week gap: two separate sittings with nothing in between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Arm A (Table 13), dominance side: 1 of 4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092200"/>
                <a:gridCol w="1092200"/>
                <a:gridCol w="1092200"/>
                <a:gridCol w="128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 → 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Paper 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Replicates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Protection → strength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.26*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.557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 → tyranny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.32*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 → masculinity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.19*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 → well-groomed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.30*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73400"/>
            <a:ext cx="8229600" cy="1384300"/>
          </a:xfrm>
        </p:spPr>
        <p:txBody>
          <a:bodyPr/>
          <a:lstStyle/>
          <a:p>
            <a:pPr lvl="0"/>
            <a:r>
              <a:rPr/>
              <a:t>* significant in the paper</a:t>
            </a:r>
          </a:p>
          <a:p>
            <a:pPr lvl="0"/>
            <a:r>
              <a:rPr/>
              <a:t>Dominance side: 1 of 4 replicates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Arm A (Table 13), prestige side: 9 of 10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092200"/>
                <a:gridCol w="1092200"/>
                <a:gridCol w="1092200"/>
                <a:gridCol w="128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 → 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Paper 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Replicates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 → sensitivity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.20*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 → dedication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.30*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 → charisma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.19*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 → creativity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.24*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Expertise → sensitivity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.32*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Expertise → charisma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.22*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Expertise → intelligence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.21*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Fairness → dedication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.25*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Fairness → intelligence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.26*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Fairness → ethics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.29*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Arm B (Table 3, Model 2), paper-significant cells: 5 of 5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092200"/>
                <a:gridCol w="1092200"/>
                <a:gridCol w="1092200"/>
                <a:gridCol w="128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 → 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Paper 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Replicates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Affiliation → benevolence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.10*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Affiliation → team-building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.36*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 → vision communication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.18*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Expertise → intellectual stimulation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.13*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Fairness → moral character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.25*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33800"/>
            <a:ext cx="8229600" cy="723900"/>
          </a:xfrm>
        </p:spPr>
        <p:txBody>
          <a:bodyPr/>
          <a:lstStyle/>
          <a:p>
            <a:pPr lvl="0"/>
            <a:r>
              <a:rPr/>
              <a:t>* significant in the paper: all 5 replicate, 4 with larger β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Arm B, paper-null cells: 3 of 8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092200"/>
                <a:gridCol w="1092200"/>
                <a:gridCol w="1092200"/>
                <a:gridCol w="128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 → 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Paper 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Replicates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Protection → safety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Protection → authoritarianism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 (null)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 → narcissism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 (null)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 → authoritarianism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 → 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 → high-expectation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Expertise → competence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Fairness → virtue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 (null)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1: the prestige side reproduces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Arm A: 9 of 10 vision, expertise and fairness cells</a:t>
            </a:r>
          </a:p>
          <a:p>
            <a:pPr lvl="0"/>
            <a:r>
              <a:rPr/>
              <a:t>Arm B: all 5 paper-significant cells, 4 with larger effects</a:t>
            </a:r>
          </a:p>
          <a:p>
            <a:pPr lvl="0"/>
            <a:r>
              <a:rPr/>
              <a:t>But much of it may run through the persona’s OCEAN settings (Reading 6, a hypothesis)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2: dominance-side outcomes sit at the floor or ceiling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40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/>
                <a:gridCol w="4000500"/>
                <a:gridCol w="1117600"/>
                <a:gridCol w="1117600"/>
                <a:gridCol w="1117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Strength (prototype)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Narcissism (effectiveness)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 (effectiveness)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Authoritarianism (effectiveness)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0.29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30500"/>
            <a:ext cx="8229600" cy="1727200"/>
          </a:xfrm>
        </p:spPr>
        <p:txBody>
          <a:bodyPr/>
          <a:lstStyle/>
          <a:p>
            <a:pPr lvl="0"/>
            <a:r>
              <a:rPr/>
              <a:t>Ceiling in A (protection–strength r = .01), floor in B (R² .04-.09)</a:t>
            </a:r>
          </a:p>
          <a:p>
            <a:pPr lvl="0"/>
            <a:r>
              <a:rPr/>
              <a:t>Personas nearly agree, so little variance is left for any need to predict</a:t>
            </a:r>
          </a:p>
          <a:p>
            <a:pPr lvl="0"/>
            <a:r>
              <a:rPr/>
              <a:t>Not every failure fits: masculinity M 2.96, SD 0.89 on 1-10, yet r = .08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3: affiliation is the persona’s agreeableness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r(affiliation, agreeableness setting) = .89 in arm A</a:t>
            </a:r>
          </a:p>
          <a:p>
            <a:pPr lvl="0"/>
            <a:r>
              <a:rPr/>
              <a:t>Large unique effects the paper lacks</a:t>
            </a:r>
          </a:p>
          <a:p>
            <a:pPr lvl="1"/>
            <a:r>
              <a:rPr/>
              <a:t>Arm A: sensitivity .74, ethics .45, tyranny −.41</a:t>
            </a:r>
          </a:p>
          <a:p>
            <a:pPr lvl="1"/>
            <a:r>
              <a:rPr/>
              <a:t>Arm B: benevolence .67, virtue .58</a:t>
            </a:r>
          </a:p>
          <a:p>
            <a:pPr lvl="0"/>
            <a:r>
              <a:rPr/>
              <a:t>Paper: affiliation ΔR² = .00-.01 on all 11 ILT dimensions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4: need intercorrelations, dominance-side pairs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841500"/>
                <a:gridCol w="1003300"/>
                <a:gridCol w="1841500"/>
                <a:gridCol w="1003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Paper B (US, generic)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Arm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Paper E (China, 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Arm 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Protection–affiliation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Protection–status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−.06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Protection–vision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Protection–expertise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Protection–fairness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.41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Affiliation–status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−.14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−.10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Status–vision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Status–expertise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Status–fairness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−.50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−.45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4: need intercorrelations, prestige cluster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841500"/>
                <a:gridCol w="1003300"/>
                <a:gridCol w="1841500"/>
                <a:gridCol w="1003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Paper B (US, generic)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Arm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Paper E (China, 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Arm 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Affiliation–vision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Affiliation–expertise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Affiliation–fairness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Vision–expertise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Vision–fairness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Expertise–fairness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Range, all 15 pairs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.21 to .72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−.50 to .70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.10 to 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−.45 to .65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4: need means (1-7)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00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"/>
                <a:gridCol w="1257300"/>
                <a:gridCol w="1257300"/>
                <a:gridCol w="1257300"/>
                <a:gridCol w="1257300"/>
                <a:gridCol w="1257300"/>
                <a:gridCol w="1257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Affiliation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Expertise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Fairness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5.67 (0.87)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5.21 (1.79)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2.86 (1.07)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5.69 (1.02)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5.75 (0.87)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6.55 (0.87)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5.55 (0.88)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5.25 (1.82)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3.02 (1.06)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5.82 (0.99)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5.84 (0.87)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6.56 (0.86)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229600" cy="2133600"/>
          </a:xfrm>
        </p:spPr>
        <p:txBody>
          <a:bodyPr/>
          <a:lstStyle/>
          <a:p>
            <a:pPr lvl="0"/>
            <a:r>
              <a:rPr/>
              <a:t>M (SD) per need</a:t>
            </a:r>
          </a:p>
          <a:p>
            <a:pPr lvl="0"/>
            <a:r>
              <a:rPr/>
              <a:t>Fairness sits near the ceiling; this may hold down its correlations</a:t>
            </a:r>
          </a:p>
          <a:p>
            <a:pPr lvl="0"/>
            <a:r>
              <a:rPr/>
              <a:t>Status is the only need below the midpoint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5: G1 does not appear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Protection reaches effectiveness (safety .22) but not the prototype (strength .04)</a:t>
            </a:r>
          </a:p>
          <a:p>
            <a:pPr lvl="0"/>
            <a:r>
              <a:rPr/>
              <a:t>The reverse of the paper</a:t>
            </a:r>
          </a:p>
          <a:p>
            <a:pPr lvl="0"/>
            <a:r>
              <a:rPr/>
              <a:t>Floor and ceiling effects mean this cannot count against G1 either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6 (hypothesis): the persona is the only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 proposed explanation, not a tested one</a:t>
            </a:r>
          </a:p>
          <a:p>
            <a:pPr lvl="0"/>
            <a:r>
              <a:rPr/>
              <a:t>Each instrument runs on a fresh fork</a:t>
            </a:r>
          </a:p>
          <a:p>
            <a:pPr lvl="0"/>
            <a:r>
              <a:rPr/>
              <a:t>So a need and an outcome can correlate only through what both share: OCEAN levels and description</a:t>
            </a:r>
          </a:p>
          <a:p>
            <a:pPr lvl="0"/>
            <a:r>
              <a:rPr/>
              <a:t>One trait drives both → they correlate in the paper’s direction, with no need doing work</a:t>
            </a:r>
          </a:p>
          <a:p>
            <a:pPr lvl="1"/>
            <a:r>
              <a:rPr/>
              <a:t>e.g. high agreeableness → needs affiliation </a:t>
            </a:r>
            <a:r>
              <a:rPr i="1"/>
              <a:t>and</a:t>
            </a:r>
            <a:r>
              <a:rPr/>
              <a:t> rates benevolence effective</a:t>
            </a:r>
          </a:p>
          <a:p>
            <a:pPr lvl="0"/>
            <a:r>
              <a:rPr/>
              <a:t>No trait drives both → nothing links them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6 (hypothesis): the evidence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7200"/>
                <a:gridCol w="1041400"/>
                <a:gridCol w="1041400"/>
                <a:gridCol w="1041400"/>
                <a:gridCol w="1041400"/>
                <a:gridCol w="1041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Paper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r, OCEAN removed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 of OCEAN 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Replicates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A: protection → strength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A: status → tyranny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A: status → masculinity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A: status → well-groomed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A: 10 vision, expertise, fairness cells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.34 to .63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.05 to .24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.56 to 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 of 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B: protection → authoritarianism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−.17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 (null)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B: status → narcissism / authorit. / 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.11 / .12 / .18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.07 / .07 / 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.30 / .36 / .37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of 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B: 9 other cells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Prest./other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.32 to .82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.15 to 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.64 to 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of 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means for 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Dominance side</a:t>
            </a:r>
            <a:r>
              <a:rPr/>
              <a:t> (H4, H5, H5b, H7b): not comparable with the paper, null or significant</a:t>
            </a:r>
          </a:p>
          <a:p>
            <a:pPr lvl="0"/>
            <a:r>
              <a:rPr b="1"/>
              <a:t>Prestige side</a:t>
            </a:r>
            <a:r>
              <a:rPr/>
              <a:t>: comparable, but if Reading 6 holds it shows coherent persona settings, not needs at work</a:t>
            </a:r>
          </a:p>
          <a:p>
            <a:pPr lvl="0"/>
            <a:r>
              <a:rPr/>
              <a:t>Control OCEAN, or report r with OCEAN removed beside the raw r</a:t>
            </a:r>
          </a:p>
          <a:p>
            <a:pPr lvl="0"/>
            <a:r>
              <a:rPr/>
              <a:t>Rewording dominance items alone would not tie their scores to needs</a:t>
            </a:r>
          </a:p>
          <a:p>
            <a:pPr lvl="0"/>
            <a:r>
              <a:rPr/>
              <a:t>Read β and ΔR² sizes, not just p; “Yes (null)” is not “shown to be 0”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Sheng et al. (2026) Study 5, and Its Replication on LLM Personas</dc:title>
  <dc:creator>agent-sim / ffni_mediation</dc:creator>
  <cp:keywords/>
  <dcterms:created xsi:type="dcterms:W3CDTF">2026-10-06T12:54:10Z</dcterms:created>
  <dcterms:modified xsi:type="dcterms:W3CDTF">2026-10-06T12:54:10Z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2026-10-06</vt:lpwstr>
  </property>
</Properties>
</file>